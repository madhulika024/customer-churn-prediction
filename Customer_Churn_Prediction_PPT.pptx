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5D5B669E-347D-E8C3-3F33-91C404A2A70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+mn-lt"/>
              </a:rPr>
              <a:t>Test-set performance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78.680000000000007</c:v>
                </c:pt>
                <c:pt idx="1">
                  <c:v>62.42</c:v>
                </c:pt>
                <c:pt idx="2">
                  <c:v>49.73</c:v>
                </c:pt>
                <c:pt idx="3">
                  <c:v>55.36</c:v>
                </c:pt>
                <c:pt idx="4">
                  <c:v>81.17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01-46E2-BA0D-7E2E70BDEC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79.319999999999993</c:v>
                </c:pt>
                <c:pt idx="1">
                  <c:v>62.93</c:v>
                </c:pt>
                <c:pt idx="2">
                  <c:v>54.01</c:v>
                </c:pt>
                <c:pt idx="3">
                  <c:v>58.13</c:v>
                </c:pt>
                <c:pt idx="4">
                  <c:v>83.57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01-46E2-BA0D-7E2E70BDEC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017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team, guide and project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happens offline in the notebook; the saved .pkl files are loaded by FastAPI at startup.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are from the ChurnX frontend (HTML pages).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5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KONERU LAKSHMAIAH EDUCATION FOUNDATION (KL DEEMED TO BE UNIVERSITY)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Prediction Using Random Forest and XGBoost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Course Project  |  B.Tech  |  A.Y. 2026-27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1089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Ch. Madhulika  -  2520090056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Harshika  -  2520090047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- 13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754880" y="31089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Under the guidance of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Dr. Y. Lakshmi Prasanna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Assistant Professor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Dept. of Computer Science and Information Technology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= a customer stops using a company's product or service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in telecom, banking, insurance, subscription services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churn reduces revenue and growth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88720"/>
            <a:ext cx="64008" cy="3291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Overview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42900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Companies collect large amounts of customer data: tenure, contract, charges, payment, services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learns churn patterns from this historical data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88720"/>
            <a:ext cx="64008" cy="3291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Is Needed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21792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Knowing who already left does not prevent loss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identification of at-risk customers enables timely retention action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cannot reveal hidden patterns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291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Problem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Businesses struggle to identify customers likely to leave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data is large, complex, with many interacting attributes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88720"/>
            <a:ext cx="64008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42900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is slow and misses non-linear patterns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is imbalanced: only 26.6% of customers churn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rarely reach non-technical users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88720"/>
            <a:ext cx="64008" cy="3291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Is Affected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21792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providers losing revenue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Retention and marketing teams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who get generic, untargeted offers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Project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which factors drive churn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two leading ensemble algorithms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Practice the full ML cycle: EDA, modelling, evaluation, deployment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88720"/>
            <a:ext cx="64008" cy="3291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Need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42900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Retaining a customer is cheaper than acquiring a new one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Retention teams need a ranked list of at-risk customers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88720"/>
            <a:ext cx="64008" cy="3291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Motivation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21792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Telecom and subscription firms use predictive churn models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and Random Forest are strong baselines for tabular business data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731520"/>
          </a:xfrm>
          <a:prstGeom prst="rect">
            <a:avLst/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objective: predict customer churn using Random Forest and XGBoost and present the results through a web application.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4114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10312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05840" y="21031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the customer dataset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4114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57860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005840" y="257860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EDA to find churn patterns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054096"/>
            <a:ext cx="4114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05409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005840" y="305409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and evaluate Random Forest and XGBoost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529584"/>
            <a:ext cx="4114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52958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005840" y="352958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models with accuracy, precision, recall, F1 and ROC-AUC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4005072"/>
            <a:ext cx="4114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400507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005840" y="40050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web app (FastAPI + HTML) for live prediction and insights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2918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Approach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review of customer records and spreadsheets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Rule-based thresholds, e.g. flag short-tenure customers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Reactive: acts after the customer has left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88720"/>
            <a:ext cx="64008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Technologies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42900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Spreadsheets / BI dashboards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statistical reports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Single-model ML scripts without a user interface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88720"/>
            <a:ext cx="64008" cy="3291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21792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 capture complex feature interactions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per-customer churn probability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to scale; not usable by non-technical staff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Proposed System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ChurnX: an ML-based churn prediction system that trains Random Forest and XGBoost on historical customer data and serves predictions through a FastAPI backend and web interface.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4023360" cy="11887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64008" cy="1188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Predicts churn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Both models return a Churn / Not Churn label plus churn probability 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920240"/>
            <a:ext cx="4023360" cy="11887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920240"/>
            <a:ext cx="64008" cy="1188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Compares models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3774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Side-by-side accuracy, precision, recall, F1, ROC-AUC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4023360" cy="11887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46120"/>
            <a:ext cx="64008" cy="1188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Explains drivers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7033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Top-10 feature importance and EDA analytics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4023360" cy="11887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246120"/>
            <a:ext cx="64008" cy="1188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Easy to use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7033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Web pages: Analyze Customer, Insights, Comparison, Reports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/ Block Diagram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457200" y="10241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2331720" y="10241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4617720" y="10241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949440" y="1024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132588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1325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enters 19 customer attributes (web form)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240280" y="13258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86000" y="13258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  POST /predict (JSON validation)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297680" y="132588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43400" y="1325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preprocessor.pkl One-Hot Encoding (45 features)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263640" y="132588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09360" y="1325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263640" y="178308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09360" y="1783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726680" y="132588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0" y="1325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label + probability %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011680" y="173736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069080" y="173736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035040" y="150876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035040" y="196596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498080" y="173736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65760" y="2423160"/>
            <a:ext cx="8458200" cy="2148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2920" y="2487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training pipeline (Jupyter notebook)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02920" y="28346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customer_churn.csv (7,043 rows)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1737360" y="3154680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892808" y="28346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938528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+ EDA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127248" y="3154680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3282696" y="28346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328416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Train/test split 80/20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517136" y="3154680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4672584" y="28346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18304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 RF + XGBoost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907024" y="3154680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6062472" y="28346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08192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7296912" y="3154680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7452360" y="28346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498080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 .pkl models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 txBox="1"/>
          <p:nvPr/>
        </p:nvSpPr>
        <p:spPr>
          <a:xfrm>
            <a:off x="502920" y="3703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Other API endpoints: </a:t>
            </a:r>
            <a:r>
              <a:rPr lang="en-US" sz="1100" dirty="0">
                <a:solidFill>
                  <a:schemeClr val="tx1"/>
                </a:solidFill>
              </a:rPr>
              <a:t>GET /analytics (churn by contract, payment, tenure, charges)  |  GET /feature-importance (top 10 features)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Frontend: </a:t>
            </a:r>
            <a:r>
              <a:rPr lang="en-US" sz="1100" dirty="0">
                <a:solidFill>
                  <a:schemeClr val="tx1"/>
                </a:solidFill>
              </a:rPr>
              <a:t>HTML/CSS/JS pages call these APIs with fetch() and render results with Chart.js.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Methodology /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dataset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194560" y="155448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560320" y="11887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data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63440" y="11887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0" y="155448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766560" y="11887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228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 + split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66560" y="224028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12280" y="2240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RF &amp; XGBoost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 flipH="1">
            <a:off x="6400800" y="26060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63440" y="224028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240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&amp; compare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 flipH="1">
            <a:off x="4297680" y="26060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560320" y="224028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06040" y="2240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 models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 flipH="1">
            <a:off x="2194560" y="26060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7200" y="224028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2240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 via API + UI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635240" y="192024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57200" y="3337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Clean: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TotalCharges to numeric, 11 blank rows dropped, customerID removed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 + split: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One-Hot on 15 categorical columns; stratified 80/20 split (5,625 train / 1,407 test)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Evaluate: 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F1, ROC-AUC on the held-out test set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3.11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88720"/>
            <a:ext cx="64008" cy="1600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42900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 + Uvicorn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Pydantic (input validation)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88720"/>
            <a:ext cx="64008" cy="16002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Libraries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21792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(Random Forest)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XGBoost, joblib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65176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64008" cy="16002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Visuals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40080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Matplotlib, Seaborn, Chart.js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46120" y="2926080"/>
            <a:ext cx="265176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2926080"/>
            <a:ext cx="64008" cy="1600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3429000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dataset (no database)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saved as .pkl files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35040" y="2926080"/>
            <a:ext cx="265176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2926080"/>
            <a:ext cx="64008" cy="16002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/ Hardware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217920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Notebook, VS Code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 on a standard laptop; no GPU or cloud needed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 / Components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64008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14904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web pages: Home, Analyze, Insights, Comparison, Reports, Profile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143000"/>
            <a:ext cx="64008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846320" y="16002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846320" y="14904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Telco customer_churn.csv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402336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965960"/>
            <a:ext cx="64008" cy="7315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057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40080" y="24231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40080" y="2313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Cleaning, One-Hot Encoder (preprocessor.pkl)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63440" y="1965960"/>
            <a:ext cx="402336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965960"/>
            <a:ext cx="64008" cy="7315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057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Module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846320" y="24231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846320" y="2313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+ XGBoost models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402336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788920"/>
            <a:ext cx="64008" cy="7315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Module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40080" y="3246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40080" y="31363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 /predict returns label + probability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663440" y="2788920"/>
            <a:ext cx="402336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788920"/>
            <a:ext cx="64008" cy="7315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/ Reporting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4846320" y="3246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4846320" y="31363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/analytics, /feature-importance, Chart.js charts, Reports page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7200" y="3611880"/>
            <a:ext cx="402336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611880"/>
            <a:ext cx="64008" cy="7315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3703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Settings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640080" y="40690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640080" y="3959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Name, email, theme saved in browser localStorage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663440" y="3611880"/>
            <a:ext cx="402336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3611880"/>
            <a:ext cx="64008" cy="7315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3703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4846320" y="40690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4846320" y="3959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+ .pkl files (no database or login yet)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804117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Loaded 7,043 x 21 dataset with Pandas; no nulls, but 11 blank TotalCharges removed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Separated 19 features from the Churn target (No=0, Yes=1)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ColumnTransformer: One-Hot for 15 categorical columns, numeric columns passed through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 both models, saved with joblib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 loads the models and exposes /predict, /analytics, /feature-importance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3840480"/>
            <a:ext cx="4804117" cy="868680"/>
          </a:xfrm>
          <a:prstGeom prst="rect">
            <a:avLst/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86200"/>
            <a:ext cx="45806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rf_model.predict_proba(X)[0][1]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xgb_model.predict_proba(X)[0][1]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-&gt; churn probability (%) per model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EDA: churn by contract ty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090" y="1097280"/>
            <a:ext cx="2688771" cy="1554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0" y="26791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EDA: churn by contract type</a:t>
            </a:r>
            <a:endParaRPr lang="en-US" sz="1000" dirty="0"/>
          </a:p>
        </p:txBody>
      </p:sp>
      <p:pic>
        <p:nvPicPr>
          <p:cNvPr id="8" name="Image 1" descr="EDA: churn by ten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780" y="3017520"/>
            <a:ext cx="2687085" cy="1463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0" y="45079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EDA: churn by tenure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/ Input Data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914400" cy="9144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7,043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463040" y="1143000"/>
            <a:ext cx="914400" cy="9144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6304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46304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914400" cy="9144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888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26.6%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46888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churned (1,869)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474720" y="1143000"/>
            <a:ext cx="914400" cy="9144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47472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after encoding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57200" y="224028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 Telco Customer Churn (customer_churn.csv)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Customer: gender, SeniorCitizen, Partner, Dependents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Services: phone, internet, security, backup, tech support, streaming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Account: tenure, Contract, PaperlessBilling, PaymentMethod, MonthlyCharges, TotalCharges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Target: Churn (Yes/No)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11 rows dropped, ID removed, One-Hot, 80/20 stratified split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0" descr="Churn distribution: 5,163 retained vs 1,869 churn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13995"/>
            <a:ext cx="4114800" cy="293273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572000" y="46451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distribution: 5,163 retained vs 1,869 churned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/ Model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23317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64008" cy="23317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decision trees on bootstrap samples; majority vote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n_estimators = 200, random_state = 42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Robust, handles non-linear patterns, gives feature importance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23317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43000"/>
            <a:ext cx="64008" cy="2331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Trees built sequentially, each correcting previous errors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n_estimators 200, learning_rate 0.05, max_depth 4, subsample 0.8, colsample_bytree 0.8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Regularized; strong on tabular data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these two? Both are ensemble tree methods that suit mixed numeric/categorical business data, need little scaling, and are easy to compare: bagging (Random Forest) versus boosting (XGBoost).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71427652"/>
              </p:ext>
            </p:extLst>
          </p:nvPr>
        </p:nvGraphicFramePr>
        <p:xfrm>
          <a:off x="365760" y="105156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 0" descr="Top features (Random Forest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255876"/>
            <a:ext cx="3200400" cy="151160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577840" y="2953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features (Random Forest)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5577840" y="32461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wins on every metric; the biggest gain is recall (+4.3 pts) and ROC-AUC (+2.4 pts).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drivers: TotalCharges, tenure, MonthlyCharges, month-to-month contract.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Screenshots / Demo</a:t>
            </a:r>
            <a:endParaRPr lang="en-US" sz="2600" dirty="0"/>
          </a:p>
        </p:txBody>
      </p:sp>
      <p:pic>
        <p:nvPicPr>
          <p:cNvPr id="4" name="Image 0" descr="Home 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08" y="1097280"/>
            <a:ext cx="3469291" cy="16002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249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Home page</a:t>
            </a:r>
            <a:endParaRPr lang="en-US" sz="1000" dirty="0"/>
          </a:p>
        </p:txBody>
      </p:sp>
      <p:pic>
        <p:nvPicPr>
          <p:cNvPr id="6" name="Image 1" descr="Input screen: Analyze Custom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8948" y="1097280"/>
            <a:ext cx="3560731" cy="16002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663440" y="27249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Input screen: Analyze Customer</a:t>
            </a:r>
            <a:endParaRPr lang="en-US" sz="1000" dirty="0"/>
          </a:p>
        </p:txBody>
      </p:sp>
      <p:pic>
        <p:nvPicPr>
          <p:cNvPr id="8" name="Image 2" descr="Processing / insights: Customer Insigh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709" y="2926080"/>
            <a:ext cx="3469290" cy="16002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57200" y="45537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Processing / insights: Customer Insights</a:t>
            </a:r>
            <a:endParaRPr lang="en-US" sz="1000" dirty="0"/>
          </a:p>
        </p:txBody>
      </p:sp>
      <p:pic>
        <p:nvPicPr>
          <p:cNvPr id="10" name="Image 3" descr="Output screen: model comparis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8949" y="2926080"/>
            <a:ext cx="3560730" cy="160020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4663440" y="45537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Output screen: model comparison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2918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ChurnX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Per-customer churn probability from two models at once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Finds high-risk customers before they leave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pages show what drives churn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web interface for non-technical users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88720"/>
            <a:ext cx="64008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Improvement Over Existing Approach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846320" y="164592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Proactive instead of reactive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Learns non-linear interactions that manual rules miss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Reuses saved models for instant predictions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Transparent model comparison with five metrics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291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Use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Flagging at-risk subscribers for retention offers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Targeting loyalty and discount campaigns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Prioritising customer-support follow-up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 contract upgrades (e.g. month-to-month to annual)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88720"/>
            <a:ext cx="64008" cy="32918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Users / Industries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846320" y="164592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Telecom and internet providers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Banks and insurance companies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OTT / subscription platforms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Retention, marketing and CRM analysts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291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Limitations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 is only 50-54%: many churners are missed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hyperparameter tuning or class-imbalance handling yet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login/authentication; no database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Predictions show correlation, not the cause of churn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88720"/>
            <a:ext cx="64008" cy="32918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/ Technical Constraints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846320" y="164592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Telco dataset of 7,032 customers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snapshot; behaviour changes over time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must be retrained manually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file is about 38 MB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Improvements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(GridSearch)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SMOTE / class weights to raise recall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explanations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88720"/>
            <a:ext cx="64008" cy="3291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Features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42900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login and role-based access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for stored predictions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CSV upload; exportable reports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88720"/>
            <a:ext cx="64008" cy="32918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/ Scaling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21792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+ cloud hosting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Scheduled model retraining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CRM tools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601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9601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churn system: preprocessing, EDA, two trained models, FastAPI backend and ChurnX web app.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9601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86000"/>
            <a:ext cx="64008" cy="9601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377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outcome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0080" y="2743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performed better: 79.3% accuracy, 58.1% F1, 0.836 ROC-AUC vs 78.7%, 55.4%, 0.812 for Random Forest.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9601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83280"/>
            <a:ext cx="64008" cy="9601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4747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how ML turns customer data into actionable retention insights usable by non-technical teams.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Thank you 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urnX">
  <a:themeElements>
    <a:clrScheme name="ChurnX">
      <a:dk1>
        <a:srgbClr val="1E293B"/>
      </a:dk1>
      <a:lt1>
        <a:srgbClr val="FFFFFF"/>
      </a:lt1>
      <a:dk2>
        <a:srgbClr val="0B1530"/>
      </a:dk2>
      <a:lt2>
        <a:srgbClr val="F1F5F9"/>
      </a:lt2>
      <a:accent1>
        <a:srgbClr val="2563EB"/>
      </a:accent1>
      <a:accent2>
        <a:srgbClr val="0891B2"/>
      </a:accent2>
      <a:accent3>
        <a:srgbClr val="F97316"/>
      </a:accent3>
      <a:accent4>
        <a:srgbClr val="16A34A"/>
      </a:accent4>
      <a:accent5>
        <a:srgbClr val="7C3AED"/>
      </a:accent5>
      <a:accent6>
        <a:srgbClr val="64748B"/>
      </a:accent6>
      <a:hlink>
        <a:srgbClr val="2563EB"/>
      </a:hlink>
      <a:folHlink>
        <a:srgbClr val="7C3AED"/>
      </a:folHlink>
    </a:clrScheme>
    <a:fontScheme name="Churn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1614</Words>
  <Application>Microsoft Office PowerPoint</Application>
  <PresentationFormat>On-screen Show (16:9)</PresentationFormat>
  <Paragraphs>293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ChurnX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Using Random Forest and XGBoost</dc:title>
  <dc:subject>PptxGenJS Presentation</dc:subject>
  <dc:creator>PptxGenJS</dc:creator>
  <cp:lastModifiedBy>Madhulika Chilumula</cp:lastModifiedBy>
  <cp:revision>2</cp:revision>
  <dcterms:created xsi:type="dcterms:W3CDTF">2026-10-13T15:36:29Z</dcterms:created>
  <dcterms:modified xsi:type="dcterms:W3CDTF">2026-10-14T05:34:16Z</dcterms:modified>
</cp:coreProperties>
</file>